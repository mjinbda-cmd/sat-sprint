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59" r:id="rId8"/>
    <p:sldId id="260" r:id="rId9"/>
    <p:sldId id="261" r:id="rId11"/>
    <p:sldId id="262" r:id="rId12"/>
    <p:sldId id="265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ABB2"/>
    <a:srgbClr val="96B9BF"/>
    <a:srgbClr val="1C30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712" autoAdjust="0"/>
  </p:normalViewPr>
  <p:slideViewPr>
    <p:cSldViewPr snapToGrid="0">
      <p:cViewPr varScale="1">
        <p:scale>
          <a:sx n="107" d="100"/>
          <a:sy n="107" d="100"/>
        </p:scale>
        <p:origin x="16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260886-E24F-A47B-BF43-D351E43300D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CA546-46C7-E43E-09C4-16E447D7AA3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B753F-7C6E-45BD-B0A4-E928E7BEC445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542AF1-41B6-62DB-D432-D4FD72FA5C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D2E88-E7F1-0F69-903B-8D981B5A348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405103-6838-4B54-83D1-360151616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6366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C5FD2-00CC-4CAE-8732-3B55062C4B84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E8AABA-727B-414A-80FC-3E10C2342E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83232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73626DD-E42F-626B-88BF-5D53397DFA12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147787" y="2978092"/>
            <a:ext cx="5634484" cy="217118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3200">
                <a:solidFill>
                  <a:srgbClr val="FFFFFF"/>
                </a:solidFill>
                <a:latin typeface="Roboto Lt" pitchFamily="2" charset="0"/>
              </a:rPr>
              <a:t>Click to edit Master title style</a:t>
            </a:r>
            <a:endParaRPr lang="en-US" sz="3200" dirty="0">
              <a:solidFill>
                <a:srgbClr val="FFFFFF"/>
              </a:solidFill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8AE5954E-171A-A4DA-09BB-781D5095EAD7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147788" y="5408708"/>
            <a:ext cx="5634484" cy="110990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1800">
                <a:solidFill>
                  <a:srgbClr val="FFFFFF"/>
                </a:solidFill>
                <a:latin typeface="Roboto Lt" pitchFamily="2" charset="0"/>
              </a:rPr>
              <a:t>Click to edit Master subtitle style</a:t>
            </a:r>
            <a:endParaRPr lang="en-US" sz="1800" dirty="0">
              <a:solidFill>
                <a:srgbClr val="FFFFFF"/>
              </a:solidFill>
              <a:latin typeface="Roboto Lt" pitchFamily="2" charset="0"/>
              <a:ea typeface="Roboto L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839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766452D-4279-8EB4-2E6A-BE1C6208D2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45"/>
          <a:stretch/>
        </p:blipFill>
        <p:spPr>
          <a:xfrm>
            <a:off x="0" y="5831132"/>
            <a:ext cx="9144000" cy="106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067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F7BD445A-0F5C-C12D-1050-F6BEFFE128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7" t="15009" r="2567" b="32969"/>
          <a:stretch/>
        </p:blipFill>
        <p:spPr>
          <a:xfrm>
            <a:off x="-1" y="-215784"/>
            <a:ext cx="9144001" cy="707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9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5570C-4728-4FA1-A081-E0AC438A6412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428A6-5D5F-48F0-B0E3-05CD92364D2F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DD41D516-31C9-0054-27DE-3AFE52B163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57" r="-1" b="33305"/>
          <a:stretch/>
        </p:blipFill>
        <p:spPr>
          <a:xfrm>
            <a:off x="-2286" y="0"/>
            <a:ext cx="914399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587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0" r:id="rId2"/>
    <p:sldLayoutId id="2147483679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F0524-31D8-4D83-B53B-19B935E1780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400178" y="2761783"/>
            <a:ext cx="6836364" cy="378245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2027-2029 Strategic Planning Submission</a:t>
            </a:r>
            <a:br>
              <a:rPr lang="en-US" sz="3600" b="1" dirty="0">
                <a:solidFill>
                  <a:schemeClr val="bg1"/>
                </a:solidFill>
              </a:rPr>
            </a:br>
            <a:br>
              <a:rPr lang="en-US" sz="3200" b="1" dirty="0">
                <a:solidFill>
                  <a:schemeClr val="bg1"/>
                </a:solidFill>
              </a:rPr>
            </a:b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Benefits Advisory</a:t>
            </a:r>
            <a:br>
              <a:rPr lang="en-US" sz="3200" dirty="0">
                <a:solidFill>
                  <a:schemeClr val="bg1"/>
                </a:solidFill>
              </a:rPr>
            </a:br>
            <a:endParaRPr lang="en-US" sz="3200" dirty="0">
              <a:solidFill>
                <a:schemeClr val="bg1"/>
              </a:solidFill>
              <a:latin typeface="Roboto Lt" pitchFamily="2" charset="0"/>
              <a:ea typeface="Roboto L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216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B0C5AE62-03D5-CA27-C94D-A98F079AF471}"/>
              </a:ext>
            </a:extLst>
          </p:cNvPr>
          <p:cNvSpPr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E59"/>
                </a:solidFill>
              </a:rPr>
              <a:t>1. Strategic Assessment: Current State</a:t>
            </a:r>
            <a:endParaRPr lang="en-US" sz="24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AE3CB66B-CE23-8D35-EFEB-6E949905656E}"/>
              </a:ext>
            </a:extLst>
          </p:cNvPr>
          <p:cNvSpPr/>
          <p:nvPr/>
        </p:nvSpPr>
        <p:spPr>
          <a:xfrm>
            <a:off x="365760" y="685800"/>
            <a:ext cx="39319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buNone/>
            </a:pPr>
            <a:r>
              <a:rPr lang="en-US" sz="1700" b="1" dirty="0">
                <a:solidFill>
                  <a:srgbClr val="000000"/>
                </a:solidFill>
              </a:rPr>
              <a:t>Working Well</a:t>
            </a:r>
          </a:p>
          <a:p>
            <a:pPr marL="228600" indent="-2286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</a:rPr>
              <a:t>Steady demand, all of it word of mouth. We have not marketed the practice yet.</a:t>
            </a:r>
          </a:p>
          <a:p>
            <a:pPr marL="228600" indent="-2286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</a:rPr>
              <a:t>Clients landed and a robust pipeline.</a:t>
            </a:r>
          </a:p>
          <a:p>
            <a:pPr marL="228600" indent="-2286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</a:rPr>
              <a:t>Employer-advocate positioning: employer-paid fees only, no commission.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1700" b="1" dirty="0">
                <a:solidFill>
                  <a:srgbClr val="000000"/>
                </a:solidFill>
              </a:rPr>
              <a:t>Challenges</a:t>
            </a:r>
          </a:p>
          <a:p>
            <a:pPr marL="228600" indent="-2286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</a:rPr>
              <a:t>Team of one.</a:t>
            </a:r>
          </a:p>
          <a:p>
            <a:pPr marL="228600" indent="-2286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</a:rPr>
              <a:t>Limited placement market: only Allshores and CG.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1700" b="1" dirty="0">
                <a:solidFill>
                  <a:srgbClr val="000000"/>
                </a:solidFill>
              </a:rPr>
              <a:t>Top Risks</a:t>
            </a:r>
          </a:p>
          <a:p>
            <a:pPr marL="228600" indent="-2286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</a:rPr>
              <a:t>Insurer pushback or reduced cooperation.</a:t>
            </a:r>
          </a:p>
          <a:p>
            <a:pPr marL="228600" indent="-2286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</a:rPr>
              <a:t>Key-person dependence on the Head of Benefits Advisory.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AB100F37-E36E-D499-89AB-78C0F48D07CD}"/>
              </a:ext>
            </a:extLst>
          </p:cNvPr>
          <p:cNvSpPr/>
          <p:nvPr/>
        </p:nvSpPr>
        <p:spPr>
          <a:xfrm>
            <a:off x="4526280" y="685800"/>
            <a:ext cx="4251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buNone/>
            </a:pPr>
            <a:r>
              <a:rPr lang="en-US" sz="1700" b="1" dirty="0">
                <a:solidFill>
                  <a:srgbClr val="000000"/>
                </a:solidFill>
              </a:rPr>
              <a:t>2029 Vision</a:t>
            </a:r>
          </a:p>
          <a:p>
            <a:pPr marL="228600" indent="-2286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</a:rPr>
              <a:t>Bermuda's recognized independent employer advocate for group benefits.</a:t>
            </a:r>
          </a:p>
          <a:p>
            <a:pPr marL="228600" indent="-2286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</a:rPr>
              <a:t>Supplemental placements with overseas carriers (Aetna, Cigna, GBG, Bupa, AXA Global Healthcare, Allianz Care, Sagicor) to control cost and spread risk.</a:t>
            </a:r>
          </a:p>
          <a:p>
            <a:pPr marL="228600" indent="-2286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</a:rPr>
              <a:t>A team that does not depend on one person.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1700" b="1" dirty="0">
                <a:solidFill>
                  <a:srgbClr val="000000"/>
                </a:solidFill>
              </a:rPr>
              <a:t>Success Measures</a:t>
            </a:r>
          </a:p>
          <a:p>
            <a:pPr marL="228600" indent="-2286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</a:rPr>
              <a:t>$500k in annual one-time project revenue.</a:t>
            </a:r>
          </a:p>
          <a:p>
            <a:pPr marL="228600" indent="-2286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</a:rPr>
              <a:t>$12k per month in recurring retainer revenue.</a:t>
            </a:r>
          </a:p>
          <a:p>
            <a:pPr marL="228600" indent="-2286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</a:rPr>
              <a:t>Team of three.</a:t>
            </a:r>
          </a:p>
        </p:txBody>
      </p:sp>
    </p:spTree>
    <p:extLst>
      <p:ext uri="{BB962C8B-B14F-4D97-AF65-F5344CB8AC3E}">
        <p14:creationId xmlns:p14="http://schemas.microsoft.com/office/powerpoint/2010/main" val="3820343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FA3F7-C920-27B4-0343-BEC5E476D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F69BCC4-28AD-23B1-00A7-FA5BE2240CCD}"/>
              </a:ext>
            </a:extLst>
          </p:cNvPr>
          <p:cNvSpPr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E59"/>
                </a:solidFill>
              </a:rPr>
              <a:t>Strategic Priorities 2027-2029</a:t>
            </a:r>
            <a:endParaRPr lang="en-US" sz="2400"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0AECAD5B-0C82-5B55-E56A-95BA28314B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702380"/>
              </p:ext>
            </p:extLst>
          </p:nvPr>
        </p:nvGraphicFramePr>
        <p:xfrm>
          <a:off x="365760" y="627530"/>
          <a:ext cx="8419654" cy="5147093"/>
        </p:xfrm>
        <a:graphic>
          <a:graphicData uri="http://schemas.openxmlformats.org/drawingml/2006/table">
            <a:tbl>
              <a:tblPr/>
              <a:tblGrid>
                <a:gridCol w="1337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1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7365">
                  <a:extLst>
                    <a:ext uri="{9D8B030D-6E8A-4147-A177-3AD203B41FA5}">
                      <a16:colId xmlns:a16="http://schemas.microsoft.com/office/drawing/2014/main" val="1280951010"/>
                    </a:ext>
                  </a:extLst>
                </a:gridCol>
                <a:gridCol w="1161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2115">
                  <a:extLst>
                    <a:ext uri="{9D8B030D-6E8A-4147-A177-3AD203B41FA5}">
                      <a16:colId xmlns:a16="http://schemas.microsoft.com/office/drawing/2014/main" val="2815488876"/>
                    </a:ext>
                  </a:extLst>
                </a:gridCol>
              </a:tblGrid>
              <a:tr h="5375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/>
                        <a:t>Initiative</a:t>
                      </a:r>
                    </a:p>
                    <a:p>
                      <a:pPr marL="0" indent="0">
                        <a:buNone/>
                      </a:pPr>
                      <a:endParaRPr lang="en-US" sz="1400" b="1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/>
                        <a:t>Outcome</a:t>
                      </a:r>
                    </a:p>
                    <a:p>
                      <a:pPr marL="0" indent="0">
                        <a:buNone/>
                      </a:pPr>
                      <a:endParaRPr lang="en-US" sz="1400" b="1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/>
                        <a:t>Support/Investment 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Timing</a:t>
                      </a:r>
                      <a:endParaRPr lang="en-US" sz="1400" b="1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/>
                        <a:t>Measure of Success 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Grow the advisory book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Larger, diversified client base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Recurring retainer revenue alongside project fees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Marketing budget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Capacity freed by the deputy hire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Client management system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2027 onwards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Clients under advisory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$500k annual project revenue and $12k monthly recurring by 2029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0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Build admin and benchmarking infrastructure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Scalable delivery and consistent servicing standards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Faster, evidence-based renewals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Invoicing and client management system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Benchmarking database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AI tooling and IT support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2026 to 2027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Renewal cycle time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Invoicing accuracy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Benchmark reports produced each year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0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Hire a deputy and build succession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Capacity to serve pipeline demand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No single-person dependency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One all-round Benefits Advisor: client meetings, benefits analysis, data, renewals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Third team member by 2029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Hire in 2027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Team of three by 2029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Deputy independently running renewals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Cover in place for absences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Clients served per head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0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Intentional marketing and market visibility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Freisenbruch known as Bermuda's independent employer advocate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Inbound demand beyond word of mouth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Marketing plan and budget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Speaking at industry events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Published benchmarking insights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2027 onwards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Inbound inquiries and RFP invitations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Speaking invitations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Share of pipeline from marketing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017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204AE-4044-BA73-4921-955D21374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6088680-5415-4F5B-EFE2-C3E875CAEB57}"/>
              </a:ext>
            </a:extLst>
          </p:cNvPr>
          <p:cNvSpPr/>
          <p:nvPr/>
        </p:nvSpPr>
        <p:spPr>
          <a:xfrm>
            <a:off x="365760" y="182880"/>
            <a:ext cx="839478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E59"/>
                </a:solidFill>
              </a:rPr>
              <a:t>2. SWOT Analysis</a:t>
            </a:r>
            <a:endParaRPr lang="en-US" sz="2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D76E247-940D-C240-2514-9843513F818A}"/>
              </a:ext>
            </a:extLst>
          </p:cNvPr>
          <p:cNvSpPr/>
          <p:nvPr/>
        </p:nvSpPr>
        <p:spPr>
          <a:xfrm>
            <a:off x="365760" y="764300"/>
            <a:ext cx="3030349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BC3A573-E373-CA10-26F3-80A43726D18F}"/>
              </a:ext>
            </a:extLst>
          </p:cNvPr>
          <p:cNvSpPr/>
          <p:nvPr/>
        </p:nvSpPr>
        <p:spPr>
          <a:xfrm>
            <a:off x="4247535" y="764300"/>
            <a:ext cx="4778477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46BF75E-799C-8D04-0F94-29369681E83A}"/>
              </a:ext>
            </a:extLst>
          </p:cNvPr>
          <p:cNvSpPr/>
          <p:nvPr/>
        </p:nvSpPr>
        <p:spPr>
          <a:xfrm>
            <a:off x="365760" y="3080075"/>
            <a:ext cx="3030349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4C667A3E-0F59-217B-634D-09DA5F967942}"/>
              </a:ext>
            </a:extLst>
          </p:cNvPr>
          <p:cNvSpPr/>
          <p:nvPr/>
        </p:nvSpPr>
        <p:spPr>
          <a:xfrm>
            <a:off x="4247535" y="3080075"/>
            <a:ext cx="317532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8053A34-D23B-D654-DF49-6175F9480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714146"/>
              </p:ext>
            </p:extLst>
          </p:nvPr>
        </p:nvGraphicFramePr>
        <p:xfrm>
          <a:off x="365761" y="986117"/>
          <a:ext cx="8482404" cy="4388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7103">
                  <a:extLst>
                    <a:ext uri="{9D8B030D-6E8A-4147-A177-3AD203B41FA5}">
                      <a16:colId xmlns:a16="http://schemas.microsoft.com/office/drawing/2014/main" val="3646050597"/>
                    </a:ext>
                  </a:extLst>
                </a:gridCol>
                <a:gridCol w="4125301">
                  <a:extLst>
                    <a:ext uri="{9D8B030D-6E8A-4147-A177-3AD203B41FA5}">
                      <a16:colId xmlns:a16="http://schemas.microsoft.com/office/drawing/2014/main" val="3215170364"/>
                    </a:ext>
                  </a:extLst>
                </a:gridCol>
              </a:tblGrid>
              <a:tr h="1820536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Strengths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Deep market expertise and long-standing relationships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Employer-advocate positioning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Fee-only independence: employer paid, no commission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Freisenbruch brand, license, and infrastructure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Clients landed and a robust pipeline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Weaknesses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Team of one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Limited options to place business (CG, Allshores)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2464593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Opportunities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Intentional marketing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Monthly retainer servicing for off-island HR teams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Coordination of benefits for employers holding overseas and Bermuda coverage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Cross-referrals from Corporate Insurance and Pensions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Employers frustrated with renewal increases</a:t>
                      </a:r>
                    </a:p>
                  </a:txBody>
                  <a:tcPr>
                    <a:solidFill>
                      <a:srgbClr val="F1C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Threats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Insurer pushback or reduced cooperation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Only two local placement markets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Competing advisory practices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3833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FEF60-4C8F-1AB6-AFA1-93A424992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9753703-CDEC-7FE7-185E-177C288E33B6}"/>
              </a:ext>
            </a:extLst>
          </p:cNvPr>
          <p:cNvSpPr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E59"/>
                </a:solidFill>
              </a:rPr>
              <a:t>3. Business Improvement Opportunities</a:t>
            </a:r>
            <a:endParaRPr lang="en-US" sz="2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C1C83B1-42A8-4C72-5FF4-F91E23595AF7}"/>
              </a:ext>
            </a:extLst>
          </p:cNvPr>
          <p:cNvSpPr/>
          <p:nvPr/>
        </p:nvSpPr>
        <p:spPr>
          <a:xfrm>
            <a:off x="475130" y="842683"/>
            <a:ext cx="8122024" cy="5136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BD3F83-D918-9990-0E1A-FA5687253C4F}"/>
              </a:ext>
            </a:extLst>
          </p:cNvPr>
          <p:cNvSpPr txBox="1"/>
          <p:nvPr/>
        </p:nvSpPr>
        <p:spPr>
          <a:xfrm>
            <a:off x="365760" y="777240"/>
            <a:ext cx="8412480" cy="484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</a:rPr>
              <a:t>Growth Opportunities</a:t>
            </a:r>
          </a:p>
          <a:p>
            <a:pPr marL="228600" indent="-2286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000000"/>
                </a:solidFill>
              </a:rPr>
              <a:t>Intentional marketing to turn word-of-mouth demand into a managed pipeline.</a:t>
            </a:r>
          </a:p>
          <a:p>
            <a:pPr marL="228600" indent="-2286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000000"/>
                </a:solidFill>
              </a:rPr>
              <a:t>Monthly retainer model: servicing standards, Bermuda benefits advisor to off-island HR teams, and coordination of benefits for employers holding both overseas and Bermuda coverage.</a:t>
            </a:r>
          </a:p>
          <a:p>
            <a:pPr marL="228600" indent="-2286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000000"/>
                </a:solidFill>
              </a:rPr>
              <a:t>Cross-referrals with Corporate Insurance and Pensions clients.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000000"/>
                </a:solidFill>
              </a:rPr>
              <a:t>Technology and Process</a:t>
            </a:r>
          </a:p>
          <a:p>
            <a:pPr marL="228600" indent="-2286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000000"/>
                </a:solidFill>
              </a:rPr>
              <a:t>Invoicing and client management system.</a:t>
            </a:r>
          </a:p>
          <a:p>
            <a:pPr marL="228600" indent="-2286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000000"/>
                </a:solidFill>
              </a:rPr>
              <a:t>Benchmarking database of Bermuda plan designs and rates.</a:t>
            </a:r>
          </a:p>
          <a:p>
            <a:pPr marL="228600" indent="-2286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000000"/>
                </a:solidFill>
              </a:rPr>
              <a:t>AI tooling for renewal analysis, reporting, and client deliverables.</a:t>
            </a:r>
          </a:p>
          <a:p>
            <a:pPr marL="228600" indent="-2286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000000"/>
                </a:solidFill>
              </a:rPr>
              <a:t>Documented servicing standards and renewal playbook so delivery does not depend on one person.</a:t>
            </a:r>
          </a:p>
        </p:txBody>
      </p:sp>
    </p:spTree>
    <p:extLst>
      <p:ext uri="{BB962C8B-B14F-4D97-AF65-F5344CB8AC3E}">
        <p14:creationId xmlns:p14="http://schemas.microsoft.com/office/powerpoint/2010/main" val="3260394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3C17E-8A36-95FE-497C-5DD755749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F726498-EA9F-E083-F7EE-C084F92F711D}"/>
              </a:ext>
            </a:extLst>
          </p:cNvPr>
          <p:cNvSpPr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E59"/>
                </a:solidFill>
              </a:rPr>
              <a:t>4. Talent Planning Review</a:t>
            </a:r>
            <a:endParaRPr lang="en-US" sz="2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74FE83D-5530-F4F4-2C5F-6A5CF2C4AEBE}"/>
              </a:ext>
            </a:extLst>
          </p:cNvPr>
          <p:cNvSpPr/>
          <p:nvPr/>
        </p:nvSpPr>
        <p:spPr>
          <a:xfrm>
            <a:off x="548639" y="570270"/>
            <a:ext cx="8326419" cy="5471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707A186-BF7A-657F-7ED5-6F78331DA7A7}"/>
              </a:ext>
            </a:extLst>
          </p:cNvPr>
          <p:cNvSpPr/>
          <p:nvPr/>
        </p:nvSpPr>
        <p:spPr>
          <a:xfrm>
            <a:off x="4023360" y="2630129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63042C-2E8D-FFE0-2836-3DB1CA07D94F}"/>
              </a:ext>
            </a:extLst>
          </p:cNvPr>
          <p:cNvSpPr txBox="1"/>
          <p:nvPr/>
        </p:nvSpPr>
        <p:spPr>
          <a:xfrm>
            <a:off x="365760" y="685800"/>
            <a:ext cx="8412480" cy="5029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</a:rPr>
              <a:t>Talent Assessment</a:t>
            </a:r>
          </a:p>
          <a:p>
            <a:pPr marL="228600" indent="-2286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</a:rPr>
              <a:t>One person covers sales, client servicing, benefits analysis, renewals, negotiations, and administration.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sz="1600" b="1" dirty="0">
                <a:solidFill>
                  <a:srgbClr val="000000"/>
                </a:solidFill>
              </a:rPr>
              <a:t>Challenges</a:t>
            </a:r>
          </a:p>
          <a:p>
            <a:pPr marL="228600" indent="-2286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</a:rPr>
              <a:t>Capacity ceiling: demand already exceeds what one person can serve.</a:t>
            </a:r>
          </a:p>
          <a:p>
            <a:pPr marL="228600" indent="-2286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</a:rPr>
              <a:t>Every hour spent on delivery is an hour not spent on growth. No cover for absence.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sz="1600" b="1" dirty="0">
                <a:solidFill>
                  <a:srgbClr val="000000"/>
                </a:solidFill>
              </a:rPr>
              <a:t>Future Requirements</a:t>
            </a:r>
          </a:p>
          <a:p>
            <a:pPr marL="228600" indent="-2286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</a:rPr>
              <a:t>An all-round deputy who meets clients and runs benefits analysis, data, and renewals (2027).</a:t>
            </a:r>
          </a:p>
          <a:p>
            <a:pPr marL="228600" indent="-2286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</a:rPr>
              <a:t>Third team member by 2029.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sz="1600" b="1" dirty="0">
                <a:solidFill>
                  <a:srgbClr val="000000"/>
                </a:solidFill>
              </a:rPr>
              <a:t>Skills Gap</a:t>
            </a:r>
          </a:p>
          <a:p>
            <a:pPr marL="228600" indent="-2286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</a:rPr>
              <a:t>Analytical and client-servicing depth currently sits with one person and must be built into the team.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sz="1600" b="1" dirty="0">
                <a:solidFill>
                  <a:srgbClr val="000000"/>
                </a:solidFill>
              </a:rPr>
              <a:t>Risk if not completed</a:t>
            </a:r>
          </a:p>
          <a:p>
            <a:pPr marL="228600" indent="-2286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</a:rPr>
              <a:t>Key-person dependence and no succession.</a:t>
            </a:r>
          </a:p>
          <a:p>
            <a:pPr marL="228600" indent="-2286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</a:rPr>
              <a:t>Revenue capped at one person's hours; pipeline demand goes unmet.</a:t>
            </a:r>
          </a:p>
          <a:p>
            <a:pPr marL="228600" indent="-2286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</a:rPr>
              <a:t>Service standards at risk during any absence.</a:t>
            </a:r>
          </a:p>
        </p:txBody>
      </p:sp>
    </p:spTree>
    <p:extLst>
      <p:ext uri="{BB962C8B-B14F-4D97-AF65-F5344CB8AC3E}">
        <p14:creationId xmlns:p14="http://schemas.microsoft.com/office/powerpoint/2010/main" val="376466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68BAF-103B-904F-2CBA-8FC57E188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BE7201C-1F46-68DD-B3DB-963B154C1FA6}"/>
              </a:ext>
            </a:extLst>
          </p:cNvPr>
          <p:cNvSpPr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E59"/>
                </a:solidFill>
              </a:rPr>
              <a:t>5. Strategic Outlook</a:t>
            </a:r>
            <a:endParaRPr lang="en-US" sz="2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4DC00B1-644B-7CBB-55C9-D8A8A73CC72E}"/>
              </a:ext>
            </a:extLst>
          </p:cNvPr>
          <p:cNvSpPr/>
          <p:nvPr/>
        </p:nvSpPr>
        <p:spPr>
          <a:xfrm>
            <a:off x="365760" y="578136"/>
            <a:ext cx="8500334" cy="51323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1C1B751-ACFB-33AC-6F1B-546F9F195FAA}"/>
              </a:ext>
            </a:extLst>
          </p:cNvPr>
          <p:cNvSpPr/>
          <p:nvPr/>
        </p:nvSpPr>
        <p:spPr>
          <a:xfrm>
            <a:off x="4114800" y="3536663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5AEB6CA-E0A0-032D-DB7A-430DD7405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370983"/>
              </p:ext>
            </p:extLst>
          </p:nvPr>
        </p:nvGraphicFramePr>
        <p:xfrm>
          <a:off x="430310" y="735106"/>
          <a:ext cx="8500335" cy="4778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3200487062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1954140936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185278446"/>
                    </a:ext>
                  </a:extLst>
                </a:gridCol>
                <a:gridCol w="1500335">
                  <a:extLst>
                    <a:ext uri="{9D8B030D-6E8A-4147-A177-3AD203B41FA5}">
                      <a16:colId xmlns:a16="http://schemas.microsoft.com/office/drawing/2014/main" val="3872967530"/>
                    </a:ext>
                  </a:extLst>
                </a:gridCol>
              </a:tblGrid>
              <a:tr h="69554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Greatest Threats to Achieving Objectives </a:t>
                      </a:r>
                      <a:endParaRPr lang="en-GB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Potential Impact </a:t>
                      </a:r>
                      <a:endParaRPr lang="en-GB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Suggested Mitigation </a:t>
                      </a:r>
                      <a:endParaRPr lang="en-GB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Owner </a:t>
                      </a:r>
                      <a:endParaRPr lang="en-GB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286746"/>
                  </a:ext>
                </a:extLst>
              </a:tr>
              <a:tr h="1700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Insurer pushback or reduced cooperation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Fewer competitive quotes and weaker negotiating leverage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Slower renewals and less data for clients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Placement market narrows further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Keep insurer relationships professional and transparent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Evidence-based negotiation that insurers can defend internally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Develop supplemental options with overseas carriers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Michelle Jackson</a:t>
                      </a:r>
                    </a:p>
                  </a:txBody>
                  <a:tcPr/>
                </a:tc>
              </a:tr>
              <a:tr h="1700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Key-person dependence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No cover for absence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Growth capped at one person's capacity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Client and revenue risk if the practice lead is unavailable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Hire an all-round deputy in 2027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Document processes, servicing standards, and renewal playbooks</a:t>
                      </a:r>
                    </a:p>
                    <a:p>
                      <a:pPr marL="228600" indent="-228600"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Build client relationships across the team, not one 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Michelle Jackson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9091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4D9CB-F1D7-1EC4-ED06-381854B1B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0F9AD0C-70E0-C01D-6C4B-10BF721E185A}"/>
              </a:ext>
            </a:extLst>
          </p:cNvPr>
          <p:cNvSpPr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E59"/>
                </a:solidFill>
              </a:rPr>
              <a:t>5. Strategic Outlook</a:t>
            </a:r>
            <a:endParaRPr lang="en-US" sz="2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7328179-3581-0AE4-6E5C-9B5320BE2A82}"/>
              </a:ext>
            </a:extLst>
          </p:cNvPr>
          <p:cNvSpPr/>
          <p:nvPr/>
        </p:nvSpPr>
        <p:spPr>
          <a:xfrm>
            <a:off x="365760" y="578136"/>
            <a:ext cx="8500334" cy="51323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BA79CE5-EB0D-F4C1-E4B0-E6AD8576390D}"/>
              </a:ext>
            </a:extLst>
          </p:cNvPr>
          <p:cNvSpPr/>
          <p:nvPr/>
        </p:nvSpPr>
        <p:spPr>
          <a:xfrm>
            <a:off x="4114800" y="3536663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987978-69AB-5FEB-726B-FBBC0A314435}"/>
              </a:ext>
            </a:extLst>
          </p:cNvPr>
          <p:cNvSpPr txBox="1"/>
          <p:nvPr/>
        </p:nvSpPr>
        <p:spPr>
          <a:xfrm>
            <a:off x="365760" y="777240"/>
            <a:ext cx="8412480" cy="484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buNone/>
            </a:pPr>
            <a:r>
              <a:rPr lang="en-US" sz="1700" b="1" dirty="0">
                <a:solidFill>
                  <a:srgbClr val="000000"/>
                </a:solidFill>
              </a:rPr>
              <a:t>What opportunities should FM prioritize over the next three years?</a:t>
            </a:r>
          </a:p>
          <a:p>
            <a:pPr marL="342900" indent="-342900">
              <a:spcBef>
                <a:spcPts val="800"/>
              </a:spcBef>
              <a:buFont typeface="+mj-lt"/>
              <a:buAutoNum type="arabicPeriod"/>
            </a:pPr>
            <a:r>
              <a:rPr lang="en-US" sz="1600" b="0" dirty="0">
                <a:solidFill>
                  <a:srgbClr val="000000"/>
                </a:solidFill>
              </a:rPr>
              <a:t>Hiring an all-round deputy to remove key-person dependence and unlock capacity.</a:t>
            </a:r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r>
              <a:rPr lang="en-US" sz="1600" b="0" dirty="0">
                <a:solidFill>
                  <a:srgbClr val="000000"/>
                </a:solidFill>
              </a:rPr>
              <a:t>Intentional marketing to turn word-of-mouth demand into a managed pipeline.</a:t>
            </a:r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r>
              <a:rPr lang="en-US" sz="1600" b="0" dirty="0">
                <a:solidFill>
                  <a:srgbClr val="000000"/>
                </a:solidFill>
              </a:rPr>
              <a:t>Admin and benchmarking infrastructure so the practice scales without adding cost.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sz="1700" b="1" dirty="0">
                <a:solidFill>
                  <a:srgbClr val="000000"/>
                </a:solidFill>
              </a:rPr>
              <a:t>What advantage can FM create, and what must be true for the opportunity to succeed?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1600" b="0" dirty="0">
                <a:solidFill>
                  <a:srgbClr val="000000"/>
                </a:solidFill>
              </a:rPr>
              <a:t>Freisenbruch's advantage is being the only fee-only, employer-side benefits advisor in Bermuda, backed by an established licensed firm.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1600" b="0" dirty="0">
                <a:solidFill>
                  <a:srgbClr val="000000"/>
                </a:solidFill>
              </a:rPr>
              <a:t>For this to succeed, the practice needs a second person and a deliberate marketing push.</a:t>
            </a:r>
          </a:p>
        </p:txBody>
      </p:sp>
    </p:spTree>
    <p:extLst>
      <p:ext uri="{BB962C8B-B14F-4D97-AF65-F5344CB8AC3E}">
        <p14:creationId xmlns:p14="http://schemas.microsoft.com/office/powerpoint/2010/main" val="3347001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83A3C-5271-8361-AF72-F963AC61B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1A21938-CA0F-B949-03B0-8A9894065FCD}"/>
              </a:ext>
            </a:extLst>
          </p:cNvPr>
          <p:cNvSpPr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E59"/>
                </a:solidFill>
              </a:rPr>
              <a:t>2029 Success Statement</a:t>
            </a:r>
            <a:endParaRPr lang="en-US" sz="2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871031A-9409-1EE5-0E2C-16491D7B147E}"/>
              </a:ext>
            </a:extLst>
          </p:cNvPr>
          <p:cNvSpPr/>
          <p:nvPr/>
        </p:nvSpPr>
        <p:spPr>
          <a:xfrm>
            <a:off x="365760" y="910463"/>
            <a:ext cx="8502937" cy="44593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US" sz="2000" b="0" dirty="0">
                <a:solidFill>
                  <a:srgbClr val="000000"/>
                </a:solidFill>
              </a:rPr>
              <a:t>Employers in Bermuda name Freisenbruch first when they want independent benefits advice.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2000" b="0" dirty="0">
                <a:solidFill>
                  <a:srgbClr val="000000"/>
                </a:solidFill>
              </a:rPr>
              <a:t>The practice runs with a team of three.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2000" b="0" dirty="0">
                <a:solidFill>
                  <a:srgbClr val="000000"/>
                </a:solidFill>
              </a:rPr>
              <a:t>The practice generates $500k in annual one-time project revenue plus $12k per month in recurring retainer revenue.</a:t>
            </a:r>
          </a:p>
        </p:txBody>
      </p:sp>
    </p:spTree>
    <p:extLst>
      <p:ext uri="{BB962C8B-B14F-4D97-AF65-F5344CB8AC3E}">
        <p14:creationId xmlns:p14="http://schemas.microsoft.com/office/powerpoint/2010/main" val="53469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isenbruch Powerpoint Template.pptx" id="{63711D5C-EE3E-4624-BDFA-2BEE3C9B964D}" vid="{52FB3265-6F28-4CA5-AD47-D38D89338C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A947EFAEE7BA439D4B9B65D89148CB" ma:contentTypeVersion="14" ma:contentTypeDescription="Create a new document." ma:contentTypeScope="" ma:versionID="b49064d1261030baf88e149973586c64">
  <xsd:schema xmlns:xsd="http://www.w3.org/2001/XMLSchema" xmlns:xs="http://www.w3.org/2001/XMLSchema" xmlns:p="http://schemas.microsoft.com/office/2006/metadata/properties" xmlns:ns2="595e5b0b-d3da-4df6-b015-7c73af8b73e6" xmlns:ns3="a9a8a52c-6226-4bf2-a483-43e7042c3060" targetNamespace="http://schemas.microsoft.com/office/2006/metadata/properties" ma:root="true" ma:fieldsID="0b41a6cab23a35b189d292fe0b2657bd" ns2:_="" ns3:_="">
    <xsd:import namespace="595e5b0b-d3da-4df6-b015-7c73af8b73e6"/>
    <xsd:import namespace="a9a8a52c-6226-4bf2-a483-43e7042c30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5e5b0b-d3da-4df6-b015-7c73af8b73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0d6e6cc-2e95-407d-8704-9739bf12e1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a8a52c-6226-4bf2-a483-43e7042c306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ec0cfda9-b090-4441-8151-8f0a851204b3}" ma:internalName="TaxCatchAll" ma:showField="CatchAllData" ma:web="a9a8a52c-6226-4bf2-a483-43e7042c30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95e5b0b-d3da-4df6-b015-7c73af8b73e6">
      <Terms xmlns="http://schemas.microsoft.com/office/infopath/2007/PartnerControls"/>
    </lcf76f155ced4ddcb4097134ff3c332f>
    <TaxCatchAll xmlns="a9a8a52c-6226-4bf2-a483-43e7042c306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4D5B9D-BF7F-4E31-AF04-24B5BF8DBF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95e5b0b-d3da-4df6-b015-7c73af8b73e6"/>
    <ds:schemaRef ds:uri="a9a8a52c-6226-4bf2-a483-43e7042c30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24DA528-5993-4E06-BF35-BCB7E681BAA9}">
  <ds:schemaRefs>
    <ds:schemaRef ds:uri="http://schemas.microsoft.com/office/2006/metadata/properties"/>
    <ds:schemaRef ds:uri="http://schemas.microsoft.com/office/infopath/2007/PartnerControls"/>
    <ds:schemaRef ds:uri="595e5b0b-d3da-4df6-b015-7c73af8b73e6"/>
    <ds:schemaRef ds:uri="a9a8a52c-6226-4bf2-a483-43e7042c3060"/>
  </ds:schemaRefs>
</ds:datastoreItem>
</file>

<file path=customXml/itemProps3.xml><?xml version="1.0" encoding="utf-8"?>
<ds:datastoreItem xmlns:ds="http://schemas.openxmlformats.org/officeDocument/2006/customXml" ds:itemID="{4672199C-B31E-43B1-8965-9C13094F8A7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Freisenbruch Powerpoint Template</Template>
  <TotalTime>862</TotalTime>
  <Words>1056</Words>
  <Application>Microsoft Office PowerPoint</Application>
  <PresentationFormat>On-screen Show (4:3)</PresentationFormat>
  <Paragraphs>176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2027-2029 Strategic Planning Submission   Corporate Insurance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Andy Reading</dc:creator>
  <cp:lastModifiedBy>Marie Voysey-Moss</cp:lastModifiedBy>
  <cp:revision>13</cp:revision>
  <dcterms:created xsi:type="dcterms:W3CDTF">2026-02-24T17:22:03Z</dcterms:created>
  <dcterms:modified xsi:type="dcterms:W3CDTF">2026-09-04T18:50:01Z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0x010100ACA947EFAEE7BA439D4B9B65D89148CB</vt:lpwstr>
  </property>
  <property fmtid="{D5CDD505-2E9C-101B-9397-08002B2CF9AE}" pid="3" name="MediaServiceImageTags">
    <vt:lpwstr/>
  </property>
</Properties>
</file>